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Playfair Display SemiBold" panose="020B0604020202020204" charset="0"/>
      <p:regular r:id="rId10"/>
      <p:bold r:id="rId11"/>
      <p:italic r:id="rId12"/>
      <p:boldItalic r:id="rId13"/>
    </p:embeddedFont>
    <p:embeddedFont>
      <p:font typeface="Times" panose="02020603050405020304" pitchFamily="18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hRct6WhpjnLYkE824ii1GYaFHa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6488BD-2A68-71E4-BAEF-A5D94EA5C3C3}" v="255" dt="2026-10-05T15:47:35.8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29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microsoft.com/office/2015/10/relationships/revisionInfo" Target="revisionInfo.xml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jpg"/><Relationship Id="rId7" Type="http://schemas.openxmlformats.org/officeDocument/2006/relationships/image" Target="../media/image19.png"/><Relationship Id="rId12" Type="http://schemas.openxmlformats.org/officeDocument/2006/relationships/hyperlink" Target="https://drive.google.com/file/d/1_tbJiLD_s4VxXLkNZVQwmTHU21ng08Ow/view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hyperlink" Target="https://claude.ai/artifact/6YQvJKEoVjYNR4MxpDfUTw" TargetMode="External"/><Relationship Id="rId5" Type="http://schemas.openxmlformats.org/officeDocument/2006/relationships/image" Target="../media/image17.png"/><Relationship Id="rId10" Type="http://schemas.openxmlformats.org/officeDocument/2006/relationships/hyperlink" Target="https://host-html-user.com/p/mtf3zj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claude.ai/artifact/AhunMNzspfsffiG115gJdX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rive.google.com/file/d/1AXETN1Gpa2m5ztQAL7LEGGvOCHGAeYDi/view?usp=drive_link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5" name="Google Shape;85;p1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6" name="Google Shape;86;p1"/>
          <p:cNvSpPr/>
          <p:nvPr/>
        </p:nvSpPr>
        <p:spPr>
          <a:xfrm>
            <a:off x="1274325" y="307375"/>
            <a:ext cx="14692810" cy="1101598"/>
          </a:xfrm>
          <a:custGeom>
            <a:avLst/>
            <a:gdLst/>
            <a:ahLst/>
            <a:cxnLst/>
            <a:rect l="l" t="t" r="r" b="b"/>
            <a:pathLst>
              <a:path w="14127702" h="1101598" extrusionOk="0">
                <a:moveTo>
                  <a:pt x="0" y="0"/>
                </a:moveTo>
                <a:lnTo>
                  <a:pt x="14127702" y="0"/>
                </a:lnTo>
                <a:lnTo>
                  <a:pt x="14127702" y="1101598"/>
                </a:lnTo>
                <a:lnTo>
                  <a:pt x="0" y="1101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953" t="-10072" r="-12923" b="-10072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7" name="Google Shape;87;p1"/>
          <p:cNvSpPr/>
          <p:nvPr/>
        </p:nvSpPr>
        <p:spPr>
          <a:xfrm>
            <a:off x="1591320" y="362859"/>
            <a:ext cx="610238" cy="832142"/>
          </a:xfrm>
          <a:custGeom>
            <a:avLst/>
            <a:gdLst/>
            <a:ahLst/>
            <a:cxnLst/>
            <a:rect l="l" t="t" r="r" b="b"/>
            <a:pathLst>
              <a:path w="610238" h="832142" extrusionOk="0">
                <a:moveTo>
                  <a:pt x="0" y="0"/>
                </a:moveTo>
                <a:lnTo>
                  <a:pt x="610237" y="0"/>
                </a:lnTo>
                <a:lnTo>
                  <a:pt x="610237" y="832142"/>
                </a:lnTo>
                <a:lnTo>
                  <a:pt x="0" y="832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8" name="Google Shape;88;p1"/>
          <p:cNvSpPr/>
          <p:nvPr/>
        </p:nvSpPr>
        <p:spPr>
          <a:xfrm>
            <a:off x="4415789" y="372692"/>
            <a:ext cx="901250" cy="901250"/>
          </a:xfrm>
          <a:custGeom>
            <a:avLst/>
            <a:gdLst/>
            <a:ahLst/>
            <a:cxnLst/>
            <a:rect l="l" t="t" r="r" b="b"/>
            <a:pathLst>
              <a:path w="901250" h="901250" extrusionOk="0">
                <a:moveTo>
                  <a:pt x="0" y="0"/>
                </a:moveTo>
                <a:lnTo>
                  <a:pt x="901249" y="0"/>
                </a:lnTo>
                <a:lnTo>
                  <a:pt x="901249" y="901249"/>
                </a:lnTo>
                <a:lnTo>
                  <a:pt x="0" y="901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9" name="Google Shape;89;p1"/>
          <p:cNvSpPr/>
          <p:nvPr/>
        </p:nvSpPr>
        <p:spPr>
          <a:xfrm>
            <a:off x="13628758" y="488306"/>
            <a:ext cx="1172861" cy="616220"/>
          </a:xfrm>
          <a:custGeom>
            <a:avLst/>
            <a:gdLst/>
            <a:ahLst/>
            <a:cxnLst/>
            <a:rect l="l" t="t" r="r" b="b"/>
            <a:pathLst>
              <a:path w="1172861" h="616220" extrusionOk="0">
                <a:moveTo>
                  <a:pt x="0" y="0"/>
                </a:moveTo>
                <a:lnTo>
                  <a:pt x="1172860" y="0"/>
                </a:lnTo>
                <a:lnTo>
                  <a:pt x="1172860" y="616220"/>
                </a:lnTo>
                <a:lnTo>
                  <a:pt x="0" y="6162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0" name="Google Shape;90;p1"/>
          <p:cNvSpPr/>
          <p:nvPr/>
        </p:nvSpPr>
        <p:spPr>
          <a:xfrm>
            <a:off x="5926638" y="538306"/>
            <a:ext cx="1721890" cy="626142"/>
          </a:xfrm>
          <a:custGeom>
            <a:avLst/>
            <a:gdLst/>
            <a:ahLst/>
            <a:cxnLst/>
            <a:rect l="l" t="t" r="r" b="b"/>
            <a:pathLst>
              <a:path w="1721890" h="626142" extrusionOk="0">
                <a:moveTo>
                  <a:pt x="0" y="0"/>
                </a:moveTo>
                <a:lnTo>
                  <a:pt x="1721890" y="0"/>
                </a:lnTo>
                <a:lnTo>
                  <a:pt x="1721890" y="626142"/>
                </a:lnTo>
                <a:lnTo>
                  <a:pt x="0" y="626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l="-72694" t="-170790" r="-73660" b="-156816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1" name="Google Shape;91;p1"/>
          <p:cNvSpPr/>
          <p:nvPr/>
        </p:nvSpPr>
        <p:spPr>
          <a:xfrm>
            <a:off x="8258128" y="488306"/>
            <a:ext cx="1474047" cy="670021"/>
          </a:xfrm>
          <a:custGeom>
            <a:avLst/>
            <a:gdLst/>
            <a:ahLst/>
            <a:cxnLst/>
            <a:rect l="l" t="t" r="r" b="b"/>
            <a:pathLst>
              <a:path w="1474047" h="670021" extrusionOk="0">
                <a:moveTo>
                  <a:pt x="0" y="0"/>
                </a:moveTo>
                <a:lnTo>
                  <a:pt x="1474047" y="0"/>
                </a:lnTo>
                <a:lnTo>
                  <a:pt x="1474047" y="670021"/>
                </a:lnTo>
                <a:lnTo>
                  <a:pt x="0" y="670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l="-16057" t="-88646" r="-11397" b="-91756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2" name="Google Shape;92;p1"/>
          <p:cNvSpPr/>
          <p:nvPr/>
        </p:nvSpPr>
        <p:spPr>
          <a:xfrm>
            <a:off x="10341775" y="488306"/>
            <a:ext cx="2677383" cy="585678"/>
          </a:xfrm>
          <a:custGeom>
            <a:avLst/>
            <a:gdLst/>
            <a:ahLst/>
            <a:cxnLst/>
            <a:rect l="l" t="t" r="r" b="b"/>
            <a:pathLst>
              <a:path w="2677383" h="585678" extrusionOk="0">
                <a:moveTo>
                  <a:pt x="0" y="0"/>
                </a:moveTo>
                <a:lnTo>
                  <a:pt x="2677383" y="0"/>
                </a:lnTo>
                <a:lnTo>
                  <a:pt x="2677383" y="585677"/>
                </a:lnTo>
                <a:lnTo>
                  <a:pt x="0" y="585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3" name="Google Shape;93;p1"/>
          <p:cNvSpPr txBox="1"/>
          <p:nvPr/>
        </p:nvSpPr>
        <p:spPr>
          <a:xfrm>
            <a:off x="2149315" y="481156"/>
            <a:ext cx="1655535" cy="46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2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MANIPAL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2149315" y="833903"/>
            <a:ext cx="1655535" cy="302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4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3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ACADEMY OF HIGHER EDUCATION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2149315" y="1098287"/>
            <a:ext cx="1655535" cy="132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6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Institution of Embrace Diamant in the University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12144375" y="3869391"/>
            <a:ext cx="6143625" cy="6417609"/>
          </a:xfrm>
          <a:custGeom>
            <a:avLst/>
            <a:gdLst/>
            <a:ahLst/>
            <a:cxnLst/>
            <a:rect l="l" t="t" r="r" b="b"/>
            <a:pathLst>
              <a:path w="6143625" h="6417609" extrusionOk="0">
                <a:moveTo>
                  <a:pt x="0" y="0"/>
                </a:moveTo>
                <a:lnTo>
                  <a:pt x="6143625" y="0"/>
                </a:lnTo>
                <a:lnTo>
                  <a:pt x="6143625" y="6417609"/>
                </a:lnTo>
                <a:lnTo>
                  <a:pt x="0" y="6417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4932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97" name="Google Shape;97;p1"/>
          <p:cNvGrpSpPr/>
          <p:nvPr/>
        </p:nvGrpSpPr>
        <p:grpSpPr>
          <a:xfrm>
            <a:off x="1028700" y="1593199"/>
            <a:ext cx="10533832" cy="4930312"/>
            <a:chOff x="0" y="-314325"/>
            <a:chExt cx="12613857" cy="6573749"/>
          </a:xfrm>
        </p:grpSpPr>
        <p:sp>
          <p:nvSpPr>
            <p:cNvPr id="98" name="Google Shape;98;p1"/>
            <p:cNvSpPr txBox="1"/>
            <p:nvPr/>
          </p:nvSpPr>
          <p:spPr>
            <a:xfrm>
              <a:off x="382399" y="-314325"/>
              <a:ext cx="11904300" cy="337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468" b="0" i="0" u="none" strike="noStrike" cap="none">
                  <a:solidFill>
                    <a:srgbClr val="5DE0E6"/>
                  </a:solidFill>
                  <a:latin typeface="Times"/>
                  <a:ea typeface="Times"/>
                  <a:cs typeface="Times"/>
                  <a:sym typeface="Times"/>
                </a:rPr>
                <a:t>HackSprint</a:t>
              </a:r>
              <a:endParaRPr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2124439" y="2762951"/>
              <a:ext cx="8394485" cy="1047467"/>
            </a:xfrm>
            <a:custGeom>
              <a:avLst/>
              <a:gdLst/>
              <a:ahLst/>
              <a:cxnLst/>
              <a:rect l="l" t="t" r="r" b="b"/>
              <a:pathLst>
                <a:path w="8394485" h="1047467" extrusionOk="0">
                  <a:moveTo>
                    <a:pt x="0" y="0"/>
                  </a:moveTo>
                  <a:lnTo>
                    <a:pt x="8394485" y="0"/>
                  </a:lnTo>
                  <a:lnTo>
                    <a:pt x="8394485" y="1047467"/>
                  </a:lnTo>
                  <a:lnTo>
                    <a:pt x="0" y="1047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l="-1933" t="-18310" r="-1581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0" y="3795665"/>
              <a:ext cx="12613857" cy="2463759"/>
            </a:xfrm>
            <a:custGeom>
              <a:avLst/>
              <a:gdLst/>
              <a:ahLst/>
              <a:cxnLst/>
              <a:rect l="l" t="t" r="r" b="b"/>
              <a:pathLst>
                <a:path w="12613857" h="2463759" extrusionOk="0">
                  <a:moveTo>
                    <a:pt x="0" y="0"/>
                  </a:moveTo>
                  <a:lnTo>
                    <a:pt x="12613857" y="0"/>
                  </a:lnTo>
                  <a:lnTo>
                    <a:pt x="12613857" y="2463759"/>
                  </a:lnTo>
                  <a:lnTo>
                    <a:pt x="0" y="24637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3083387" y="4400540"/>
              <a:ext cx="575369" cy="1239256"/>
            </a:xfrm>
            <a:custGeom>
              <a:avLst/>
              <a:gdLst/>
              <a:ahLst/>
              <a:cxnLst/>
              <a:rect l="l" t="t" r="r" b="b"/>
              <a:pathLst>
                <a:path w="575369" h="1239256" extrusionOk="0">
                  <a:moveTo>
                    <a:pt x="0" y="0"/>
                  </a:moveTo>
                  <a:lnTo>
                    <a:pt x="575369" y="0"/>
                  </a:lnTo>
                  <a:lnTo>
                    <a:pt x="575369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8689546" y="4400540"/>
              <a:ext cx="73765" cy="1239256"/>
            </a:xfrm>
            <a:custGeom>
              <a:avLst/>
              <a:gdLst/>
              <a:ahLst/>
              <a:cxnLst/>
              <a:rect l="l" t="t" r="r" b="b"/>
              <a:pathLst>
                <a:path w="73765" h="1239256" extrusionOk="0">
                  <a:moveTo>
                    <a:pt x="0" y="0"/>
                  </a:moveTo>
                  <a:lnTo>
                    <a:pt x="73765" y="0"/>
                  </a:lnTo>
                  <a:lnTo>
                    <a:pt x="73765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l="-20000" r="-280000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Google Shape;103;p1"/>
            <p:cNvSpPr txBox="1"/>
            <p:nvPr/>
          </p:nvSpPr>
          <p:spPr>
            <a:xfrm>
              <a:off x="2436968" y="2920863"/>
              <a:ext cx="7221300" cy="7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20" b="1" i="0" u="none" strike="noStrike" cap="non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24-Hour Hackathon</a:t>
              </a: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865835" y="4393321"/>
              <a:ext cx="2417100" cy="101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938" b="1" i="0" u="none" strike="noStrike" cap="none">
                  <a:solidFill>
                    <a:srgbClr val="5DE0E6"/>
                  </a:solidFill>
                  <a:latin typeface="Arial"/>
                  <a:ea typeface="Arial"/>
                  <a:cs typeface="Arial"/>
                  <a:sym typeface="Arial"/>
                </a:rPr>
                <a:t>17-18</a:t>
              </a:r>
              <a:endParaRPr/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4400894" y="4940029"/>
              <a:ext cx="3474600" cy="7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99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44" b="1" i="0" u="none" strike="noStrike" cap="non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Manipal Academy of Higher Education (MAHE)</a:t>
              </a:r>
              <a:endParaRPr/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1047112" y="5438889"/>
              <a:ext cx="1389900" cy="32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2" b="1" i="0" u="none" strike="noStrike" cap="non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OCTOBER</a:t>
              </a:r>
              <a:endParaRPr/>
            </a:p>
          </p:txBody>
        </p:sp>
        <p:sp>
          <p:nvSpPr>
            <p:cNvPr id="107" name="Google Shape;107;p1"/>
            <p:cNvSpPr txBox="1"/>
            <p:nvPr/>
          </p:nvSpPr>
          <p:spPr>
            <a:xfrm>
              <a:off x="4974964" y="4461918"/>
              <a:ext cx="22962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85" b="1" i="0" u="none" strike="noStrike" cap="non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VENUE DETAILS</a:t>
              </a:r>
              <a:endParaRPr/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10141600" y="4781941"/>
              <a:ext cx="16317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85" b="1" i="0" u="none" strike="noStrike" cap="non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SATURDAY</a:t>
              </a:r>
              <a:endParaRPr/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9416458" y="5168176"/>
              <a:ext cx="24171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85" b="0" i="0" u="none" strike="noStrike" cap="non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09 A.M. Onwards</a:t>
              </a:r>
              <a:endParaRPr/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1166813" y="8715375"/>
            <a:ext cx="14049375" cy="1085850"/>
            <a:chOff x="0" y="0"/>
            <a:chExt cx="18732500" cy="1447800"/>
          </a:xfrm>
        </p:grpSpPr>
        <p:sp>
          <p:nvSpPr>
            <p:cNvPr id="111" name="Google Shape;111;p1"/>
            <p:cNvSpPr/>
            <p:nvPr/>
          </p:nvSpPr>
          <p:spPr>
            <a:xfrm>
              <a:off x="0" y="0"/>
              <a:ext cx="18732500" cy="1447800"/>
            </a:xfrm>
            <a:custGeom>
              <a:avLst/>
              <a:gdLst/>
              <a:ahLst/>
              <a:cxnLst/>
              <a:rect l="l" t="t" r="r" b="b"/>
              <a:pathLst>
                <a:path w="18732500" h="1447800" extrusionOk="0">
                  <a:moveTo>
                    <a:pt x="0" y="0"/>
                  </a:moveTo>
                  <a:lnTo>
                    <a:pt x="18732500" y="0"/>
                  </a:lnTo>
                  <a:lnTo>
                    <a:pt x="187325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l="-542" t="-9649" r="-1084" b="-18422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10927848" y="480123"/>
              <a:ext cx="2629904" cy="575802"/>
            </a:xfrm>
            <a:custGeom>
              <a:avLst/>
              <a:gdLst/>
              <a:ahLst/>
              <a:cxnLst/>
              <a:rect l="l" t="t" r="r" b="b"/>
              <a:pathLst>
                <a:path w="2629904" h="575802" extrusionOk="0">
                  <a:moveTo>
                    <a:pt x="0" y="0"/>
                  </a:moveTo>
                  <a:lnTo>
                    <a:pt x="2629904" y="0"/>
                  </a:lnTo>
                  <a:lnTo>
                    <a:pt x="2629904" y="575802"/>
                  </a:lnTo>
                  <a:lnTo>
                    <a:pt x="0" y="5758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Google Shape;113;p1"/>
            <p:cNvSpPr txBox="1"/>
            <p:nvPr/>
          </p:nvSpPr>
          <p:spPr>
            <a:xfrm>
              <a:off x="1372006" y="226089"/>
              <a:ext cx="1664614" cy="8298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4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REGISTER NOW</a:t>
              </a:r>
              <a:endParaRPr/>
            </a:p>
          </p:txBody>
        </p:sp>
        <p:sp>
          <p:nvSpPr>
            <p:cNvPr id="114" name="Google Shape;114;p1"/>
            <p:cNvSpPr txBox="1"/>
            <p:nvPr/>
          </p:nvSpPr>
          <p:spPr>
            <a:xfrm>
              <a:off x="7172147" y="252779"/>
              <a:ext cx="1742643" cy="7668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21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Team Size</a:t>
              </a:r>
              <a:endParaRPr/>
            </a:p>
            <a:p>
              <a:pPr marL="0" marR="0" lvl="0" indent="0" algn="ctr" rtl="0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21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1-4 Members</a:t>
              </a:r>
              <a:endParaRPr/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12429346" y="130153"/>
              <a:ext cx="2139716" cy="29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50" b="1" i="0" u="none" strike="noStrike" cap="none">
                  <a:solidFill>
                    <a:srgbClr val="FFFFFF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ORGANIZED BY:</a:t>
              </a:r>
              <a:endParaRPr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14501941" y="232228"/>
              <a:ext cx="721119" cy="983344"/>
            </a:xfrm>
            <a:custGeom>
              <a:avLst/>
              <a:gdLst/>
              <a:ahLst/>
              <a:cxnLst/>
              <a:rect l="l" t="t" r="r" b="b"/>
              <a:pathLst>
                <a:path w="721119" h="983344" extrusionOk="0">
                  <a:moveTo>
                    <a:pt x="0" y="0"/>
                  </a:moveTo>
                  <a:lnTo>
                    <a:pt x="721119" y="0"/>
                  </a:lnTo>
                  <a:lnTo>
                    <a:pt x="721119" y="983344"/>
                  </a:lnTo>
                  <a:lnTo>
                    <a:pt x="0" y="9833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Google Shape;117;p1"/>
            <p:cNvSpPr txBox="1"/>
            <p:nvPr/>
          </p:nvSpPr>
          <p:spPr>
            <a:xfrm>
              <a:off x="15125170" y="469001"/>
              <a:ext cx="1260579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14" b="0" i="0" u="none" strike="noStrike" cap="non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MANIPAL</a:t>
              </a:r>
              <a:endParaRPr/>
            </a:p>
          </p:txBody>
        </p:sp>
        <p:sp>
          <p:nvSpPr>
            <p:cNvPr id="118" name="Google Shape;118;p1"/>
            <p:cNvSpPr txBox="1"/>
            <p:nvPr/>
          </p:nvSpPr>
          <p:spPr>
            <a:xfrm>
              <a:off x="15125170" y="762871"/>
              <a:ext cx="1956349" cy="333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9" b="0" i="0" u="none" strike="noStrike" cap="non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ACADEMY OF HIGHER EDUCATION</a:t>
              </a:r>
              <a:endParaRPr/>
            </a:p>
          </p:txBody>
        </p:sp>
        <p:sp>
          <p:nvSpPr>
            <p:cNvPr id="119" name="Google Shape;119;p1"/>
            <p:cNvSpPr txBox="1"/>
            <p:nvPr/>
          </p:nvSpPr>
          <p:spPr>
            <a:xfrm>
              <a:off x="15125170" y="1075295"/>
              <a:ext cx="1956349" cy="138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399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73" b="0" i="1" u="none" strike="noStrike" cap="non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Institution of Embrace Diamant in the University</a:t>
              </a:r>
              <a:endParaRPr/>
            </a:p>
          </p:txBody>
        </p:sp>
      </p:grpSp>
      <p:sp>
        <p:nvSpPr>
          <p:cNvPr id="120" name="Google Shape;120;p1"/>
          <p:cNvSpPr txBox="1"/>
          <p:nvPr/>
        </p:nvSpPr>
        <p:spPr>
          <a:xfrm>
            <a:off x="1591320" y="6523502"/>
            <a:ext cx="10058400" cy="1864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20023"/>
              </a:lnSpc>
            </a:pPr>
            <a:r>
              <a:rPr lang="en-US" sz="1900" b="1" dirty="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TEAM NAME</a:t>
            </a:r>
            <a:r>
              <a:rPr lang="en-US" sz="1900" b="1" i="0" u="none" strike="noStrike" cap="none" dirty="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: </a:t>
            </a:r>
            <a:r>
              <a:rPr lang="en-US" sz="1900" b="1" dirty="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JUGAAD CODERS </a:t>
            </a:r>
            <a:endParaRPr dirty="0"/>
          </a:p>
          <a:p>
            <a:pPr marL="0" marR="0" lvl="0" indent="0" algn="just" rtl="0">
              <a:lnSpc>
                <a:spcPct val="9124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2" b="1" i="0" u="none" strike="noStrike" cap="none" dirty="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algn="just">
              <a:lnSpc>
                <a:spcPct val="120023"/>
              </a:lnSpc>
            </a:pPr>
            <a:r>
              <a:rPr lang="en-US" sz="1900" b="1" i="0" u="none" strike="noStrike" cap="none" dirty="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TEAM </a:t>
            </a:r>
            <a:r>
              <a:rPr lang="en-US" sz="1900" b="1" dirty="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MEMBERS</a:t>
            </a:r>
            <a:r>
              <a:rPr lang="en-US" sz="1900" b="1" i="0" u="none" strike="noStrike" cap="none" dirty="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: </a:t>
            </a:r>
            <a:r>
              <a:rPr lang="en-US" sz="1900" b="1" dirty="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SATVIK PANDEY (LEADER) |  PARTHAV U | VEDANT J </a:t>
            </a:r>
            <a:endParaRPr dirty="0"/>
          </a:p>
          <a:p>
            <a:pPr marL="0" marR="0" lvl="0" indent="0" algn="just" rtl="0">
              <a:lnSpc>
                <a:spcPct val="9124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2" b="1" i="0" u="none" strike="noStrike" cap="none" dirty="0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algn="just">
              <a:lnSpc>
                <a:spcPct val="120026"/>
              </a:lnSpc>
            </a:pPr>
            <a:r>
              <a:rPr lang="en-US" sz="1900" b="1" i="0" u="none" strike="noStrike" cap="none" dirty="0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TRACK NO: 1 , </a:t>
            </a:r>
            <a:r>
              <a:rPr lang="en-US" sz="1900" b="1" dirty="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PS 21 </a:t>
            </a:r>
            <a:r>
              <a:rPr lang="en-US" sz="2500" b="1" dirty="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: </a:t>
            </a:r>
            <a:r>
              <a:rPr lang="en-US" sz="1900" b="1" dirty="0">
                <a:ea typeface="Playfair Display SemiBold"/>
                <a:sym typeface="Playfair Display SemiBold"/>
              </a:rPr>
              <a:t>FINTECH &amp; COMMERCE</a:t>
            </a:r>
            <a:endParaRPr sz="19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6" name="Google Shape;126;p2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7" name="Google Shape;127;p2"/>
          <p:cNvSpPr txBox="1"/>
          <p:nvPr/>
        </p:nvSpPr>
        <p:spPr>
          <a:xfrm>
            <a:off x="1028700" y="640080"/>
            <a:ext cx="15544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Solution</a:t>
            </a:r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024128" y="1828800"/>
            <a:ext cx="16002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B4F66"/>
                </a:solidFill>
                <a:latin typeface="Arial"/>
              </a:rPr>
              <a:t>STOCKOUT FIREWALL — AI procurement &amp; fulfillment resilience network for India's small merchants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24128" y="2514600"/>
            <a:ext cx="51206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ounded Rectangle 129"/>
          <p:cNvSpPr/>
          <p:nvPr/>
        </p:nvSpPr>
        <p:spPr>
          <a:xfrm>
            <a:off x="1024128" y="2514600"/>
            <a:ext cx="5120640" cy="502920"/>
          </a:xfrm>
          <a:prstGeom prst="roundRect">
            <a:avLst>
              <a:gd name="adj" fmla="val 30000"/>
            </a:avLst>
          </a:prstGeom>
          <a:solidFill>
            <a:srgbClr val="D6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115568" y="2551176"/>
            <a:ext cx="4937759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88720" y="3154680"/>
            <a:ext cx="4846320" cy="3474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0E2A3A"/>
                </a:solidFill>
                <a:latin typeface="Arial"/>
              </a:rPr>
              <a:t>• Merchant = manual supply-chain coordinator: one wholesaler for rice, one for oil, one for biscuits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0E2A3A"/>
                </a:solidFill>
                <a:latin typeface="Arial"/>
              </a:rPr>
              <a:t>• Supplier runs out, changes price or delivers late: needs 100 kg, only 40 kg exists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0E2A3A"/>
                </a:solidFill>
                <a:latin typeface="Arial"/>
              </a:rPr>
              <a:t>• Result: many calls, split orders, 3 deliveries, 3 payments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D6402F"/>
                </a:solidFill>
                <a:latin typeface="Arial"/>
              </a:rPr>
              <a:t>• Shortage found only after stock is low = lost sales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355080" y="2514600"/>
            <a:ext cx="51206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ounded Rectangle 133"/>
          <p:cNvSpPr/>
          <p:nvPr/>
        </p:nvSpPr>
        <p:spPr>
          <a:xfrm>
            <a:off x="6355080" y="2514600"/>
            <a:ext cx="5120640" cy="502920"/>
          </a:xfrm>
          <a:prstGeom prst="roundRect">
            <a:avLst>
              <a:gd name="adj" fmla="val 30000"/>
            </a:avLst>
          </a:prstGeom>
          <a:solidFill>
            <a:srgbClr val="12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446520" y="2551176"/>
            <a:ext cx="4937759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OUR SOLUTION: ONE BASKET, ONE RESILIENT PLAN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492240" y="3154680"/>
            <a:ext cx="4846320" cy="3474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0E2A3A"/>
                </a:solidFill>
                <a:latin typeface="Arial"/>
              </a:rPr>
              <a:t>• Speak or type the full need on WhatsApp / voice in Hindi, Kannada, Tamil, Telugu, Bengali or code-mixed speech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0E2A3A"/>
                </a:solidFill>
                <a:latin typeface="Arial"/>
              </a:rPr>
              <a:t>• AI builds a structured basket; optimizer picks suppliers on price, reliability, MOQ, location, terms, delivery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12915A"/>
                </a:solidFill>
                <a:latin typeface="Arial"/>
              </a:rPr>
              <a:t>• Supplier fails? Backup activated, route re-optimized automatically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0E2A3A"/>
                </a:solidFill>
                <a:latin typeface="Arial"/>
              </a:rPr>
              <a:t>• One confirmation · one payment · one fulfillment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1686032" y="2514600"/>
            <a:ext cx="539496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ounded Rectangle 137"/>
          <p:cNvSpPr/>
          <p:nvPr/>
        </p:nvSpPr>
        <p:spPr>
          <a:xfrm>
            <a:off x="11686032" y="2514600"/>
            <a:ext cx="5394960" cy="502920"/>
          </a:xfrm>
          <a:prstGeom prst="roundRect">
            <a:avLst>
              <a:gd name="adj" fmla="val 30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1777472" y="2551176"/>
            <a:ext cx="521208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WHAT MAKES US DIFFERENT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1841480" y="3200400"/>
            <a:ext cx="5074920" cy="86868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1932920" y="3246120"/>
            <a:ext cx="4937760" cy="1325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5D7482"/>
                </a:solidFill>
                <a:latin typeface="Arial"/>
              </a:rPr>
              <a:t>Existing tools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0E2A3A"/>
                </a:solidFill>
                <a:latin typeface="Arial"/>
              </a:rPr>
              <a:t>Find → Order → Receive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1841480" y="4206240"/>
            <a:ext cx="5074920" cy="128016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1932920" y="4251959"/>
            <a:ext cx="4937760" cy="1325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2915A"/>
                </a:solidFill>
                <a:latin typeface="Arial"/>
              </a:rPr>
              <a:t>Stockout Firewall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0E2A3A"/>
                </a:solidFill>
                <a:latin typeface="Arial"/>
              </a:rPr>
              <a:t>Understand → Predict → Source → Optimize → Consolidate → Monitor → Failover → Re-optimize → Fulfill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841480" y="5669280"/>
            <a:ext cx="507492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D7482"/>
                </a:solidFill>
                <a:latin typeface="Arial"/>
              </a:rPr>
              <a:t>Udaan, Jumbotail, ONDC, PANTR digitize ordering; we continuously re-solve allocation when reality changes.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024128" y="6949440"/>
            <a:ext cx="16056863" cy="1371600"/>
          </a:xfrm>
          <a:prstGeom prst="roundRect">
            <a:avLst>
              <a:gd name="adj" fmla="val 8000"/>
            </a:avLst>
          </a:prstGeom>
          <a:solidFill>
            <a:srgbClr val="0B4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1280160" y="6995160"/>
            <a:ext cx="15544800" cy="12801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5DE0E6"/>
                </a:solidFill>
                <a:latin typeface="Times"/>
              </a:rPr>
              <a:t>“When one supplier fails, the merchant shouldn't.”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Times"/>
              </a:rPr>
              <a:t>Innovation: dynamic procurement &amp; fulfillment resilience, like cloud failover, but for fragmented wholesale supply. Not just another ordering app.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024128" y="8503920"/>
            <a:ext cx="38404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024128" y="8522208"/>
            <a:ext cx="38404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B7A8A"/>
                </a:solidFill>
                <a:latin typeface="Arial"/>
              </a:rPr>
              <a:t>3m 18s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24128" y="9052560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D7482"/>
                </a:solidFill>
                <a:latin typeface="Arial"/>
              </a:rPr>
              <a:t>procurement time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093208" y="8503920"/>
            <a:ext cx="38404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5093208" y="8522208"/>
            <a:ext cx="38404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B7A8A"/>
                </a:solidFill>
                <a:latin typeface="Arial"/>
              </a:rPr>
              <a:t>1.2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093208" y="9052560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D7482"/>
                </a:solidFill>
                <a:latin typeface="Arial"/>
              </a:rPr>
              <a:t>trips per order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9162288" y="8503920"/>
            <a:ext cx="38404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9162288" y="8522208"/>
            <a:ext cx="38404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B7A8A"/>
                </a:solidFill>
                <a:latin typeface="Arial"/>
              </a:rPr>
              <a:t>96→91→95%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162288" y="9052560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D7482"/>
                </a:solidFill>
                <a:latin typeface="Arial"/>
              </a:rPr>
              <a:t>fulfillment confidence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3231368" y="8503920"/>
            <a:ext cx="38404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13231368" y="8522208"/>
            <a:ext cx="38404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B7A8A"/>
                </a:solidFill>
                <a:latin typeface="Arial"/>
              </a:rPr>
              <a:t>₹680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3231368" y="9052560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D7482"/>
                </a:solidFill>
                <a:latin typeface="Arial"/>
              </a:rPr>
              <a:t>saved on test basket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3" name="Google Shape;133;p3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4" name="Google Shape;134;p3"/>
          <p:cNvSpPr txBox="1"/>
          <p:nvPr/>
        </p:nvSpPr>
        <p:spPr>
          <a:xfrm>
            <a:off x="1028700" y="640080"/>
            <a:ext cx="15544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Tech Stack &amp; Architecture</a:t>
            </a:r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024128" y="1828800"/>
            <a:ext cx="16002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4F66"/>
                </a:solidFill>
                <a:latin typeface="Arial"/>
              </a:rPr>
              <a:t>Design principle: LLM understands &amp; calls tools · Database gives facts · Optimizer decides · Rules authorize · Payment executes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24128" y="2468880"/>
            <a:ext cx="8778240" cy="1188720"/>
          </a:xfrm>
          <a:prstGeom prst="roundRect">
            <a:avLst>
              <a:gd name="adj" fmla="val 8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1188720" y="2514600"/>
            <a:ext cx="850392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5DE0E6"/>
                </a:solidFill>
                <a:latin typeface="Arial"/>
              </a:rPr>
              <a:t>MERCHANT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WhatsApp / Voice · natural speech in any Indian language</a:t>
            </a:r>
          </a:p>
        </p:txBody>
      </p:sp>
      <p:sp>
        <p:nvSpPr>
          <p:cNvPr id="138" name="Right Arrow 137"/>
          <p:cNvSpPr/>
          <p:nvPr/>
        </p:nvSpPr>
        <p:spPr>
          <a:xfrm rot="5400000">
            <a:off x="5303520" y="3639312"/>
            <a:ext cx="365760" cy="201168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ounded Rectangle 138"/>
          <p:cNvSpPr/>
          <p:nvPr/>
        </p:nvSpPr>
        <p:spPr>
          <a:xfrm>
            <a:off x="1024128" y="3886200"/>
            <a:ext cx="8778240" cy="1188720"/>
          </a:xfrm>
          <a:prstGeom prst="roundRect">
            <a:avLst>
              <a:gd name="adj" fmla="val 8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188720" y="3931920"/>
            <a:ext cx="850392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5DE0E6"/>
                </a:solidFill>
                <a:latin typeface="Arial"/>
              </a:rPr>
              <a:t>INDIC LANGUAGE LAYER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Sarvam ASR → code-mix detect → intent → SKU / brand / pack normalization → structured basket</a:t>
            </a:r>
          </a:p>
        </p:txBody>
      </p:sp>
      <p:sp>
        <p:nvSpPr>
          <p:cNvPr id="141" name="Right Arrow 140"/>
          <p:cNvSpPr/>
          <p:nvPr/>
        </p:nvSpPr>
        <p:spPr>
          <a:xfrm rot="5400000">
            <a:off x="5303520" y="5056632"/>
            <a:ext cx="365760" cy="201168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ounded Rectangle 141"/>
          <p:cNvSpPr/>
          <p:nvPr/>
        </p:nvSpPr>
        <p:spPr>
          <a:xfrm>
            <a:off x="1024128" y="5303520"/>
            <a:ext cx="8778240" cy="1188720"/>
          </a:xfrm>
          <a:prstGeom prst="roundRect">
            <a:avLst>
              <a:gd name="adj" fmla="val 8000"/>
            </a:avLst>
          </a:prstGeom>
          <a:solidFill>
            <a:srgbClr val="0B4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188720" y="5349240"/>
            <a:ext cx="850392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5DE0E6"/>
                </a:solidFill>
                <a:latin typeface="Arial"/>
              </a:rPr>
              <a:t>AI ORCHESTRATOR (single agent, tool-calling)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Intent → policy check → deterministic tool → audit log. LLM never decides price, stock or payment.</a:t>
            </a:r>
          </a:p>
        </p:txBody>
      </p:sp>
      <p:sp>
        <p:nvSpPr>
          <p:cNvPr id="144" name="Right Arrow 143"/>
          <p:cNvSpPr/>
          <p:nvPr/>
        </p:nvSpPr>
        <p:spPr>
          <a:xfrm rot="5400000">
            <a:off x="5303520" y="6473952"/>
            <a:ext cx="365760" cy="201168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1024128" y="6720840"/>
            <a:ext cx="8778240" cy="1188720"/>
          </a:xfrm>
          <a:prstGeom prst="roundRect">
            <a:avLst>
              <a:gd name="adj" fmla="val 8000"/>
            </a:avLst>
          </a:prstGeom>
          <a:solidFill>
            <a:srgbClr val="0B4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1188720" y="6766559"/>
            <a:ext cx="850392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5DE0E6"/>
                </a:solidFill>
                <a:latin typeface="Arial"/>
              </a:rPr>
              <a:t>INTELLIGENCE &amp; OPTIMIZATION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Supplier Intelligence (stock, price, MOQ, reliability) · Procurement Optimizer (landed cost, risk, failover, cash) · Fulfillment Optimizer (milk-run, capacity, windows)</a:t>
            </a:r>
          </a:p>
        </p:txBody>
      </p:sp>
      <p:sp>
        <p:nvSpPr>
          <p:cNvPr id="147" name="Right Arrow 146"/>
          <p:cNvSpPr/>
          <p:nvPr/>
        </p:nvSpPr>
        <p:spPr>
          <a:xfrm rot="5400000">
            <a:off x="5303520" y="7891271"/>
            <a:ext cx="365760" cy="201168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ounded Rectangle 147"/>
          <p:cNvSpPr/>
          <p:nvPr/>
        </p:nvSpPr>
        <p:spPr>
          <a:xfrm>
            <a:off x="1024128" y="8138160"/>
            <a:ext cx="8778240" cy="1188720"/>
          </a:xfrm>
          <a:prstGeom prst="roundRect">
            <a:avLst>
              <a:gd name="adj" fmla="val 8000"/>
            </a:avLst>
          </a:prstGeom>
          <a:solidFill>
            <a:srgbClr val="12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1188720" y="8183880"/>
            <a:ext cx="850392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5DE0E6"/>
                </a:solidFill>
                <a:latin typeface="Arial"/>
              </a:rPr>
              <a:t>EXECUTION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Merchant approval → UPI payment → supplier orders → pickup / delivery → monitoring → replan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149840" y="2423160"/>
            <a:ext cx="69494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7A8A"/>
                </a:solidFill>
                <a:latin typeface="Arial"/>
              </a:rPr>
              <a:t>TECH STACK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0149840" y="2880360"/>
            <a:ext cx="694944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10287000" y="2880360"/>
            <a:ext cx="219456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D7482"/>
                </a:solidFill>
                <a:latin typeface="Arial"/>
              </a:rPr>
              <a:t>Frontend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2435840" y="2880360"/>
            <a:ext cx="457200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A3A"/>
                </a:solidFill>
                <a:latin typeface="Arial"/>
              </a:rPr>
              <a:t>React / Next.js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0149840" y="3429000"/>
            <a:ext cx="694944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0287000" y="3429000"/>
            <a:ext cx="219456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D7482"/>
                </a:solidFill>
                <a:latin typeface="Arial"/>
              </a:rPr>
              <a:t>Backend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2435840" y="3429000"/>
            <a:ext cx="457200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A3A"/>
                </a:solidFill>
                <a:latin typeface="Arial"/>
              </a:rPr>
              <a:t>FastAPI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0149840" y="3977639"/>
            <a:ext cx="694944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0287000" y="3977639"/>
            <a:ext cx="219456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D7482"/>
                </a:solidFill>
                <a:latin typeface="Arial"/>
              </a:rPr>
              <a:t>Database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435840" y="3977639"/>
            <a:ext cx="457200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A3A"/>
                </a:solidFill>
                <a:latin typeface="Arial"/>
              </a:rPr>
              <a:t>PostgreSQL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0149840" y="4526279"/>
            <a:ext cx="694944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10287000" y="4526279"/>
            <a:ext cx="219456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D7482"/>
                </a:solidFill>
                <a:latin typeface="Arial"/>
              </a:rPr>
              <a:t>Events / cache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2435840" y="4526279"/>
            <a:ext cx="457200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A3A"/>
                </a:solidFill>
                <a:latin typeface="Arial"/>
              </a:rPr>
              <a:t>Redis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0149840" y="5074920"/>
            <a:ext cx="694944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10287000" y="5074920"/>
            <a:ext cx="219456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D7482"/>
                </a:solidFill>
                <a:latin typeface="Arial"/>
              </a:rPr>
              <a:t>AI / language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2435840" y="5074920"/>
            <a:ext cx="457200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A3A"/>
                </a:solidFill>
                <a:latin typeface="Arial"/>
              </a:rPr>
              <a:t>Sarvam APIs + LLM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0149840" y="5623560"/>
            <a:ext cx="694944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10287000" y="5623560"/>
            <a:ext cx="219456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D7482"/>
                </a:solidFill>
                <a:latin typeface="Arial"/>
              </a:rPr>
              <a:t>Optimization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2435840" y="5623560"/>
            <a:ext cx="457200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A3A"/>
                </a:solidFill>
                <a:latin typeface="Arial"/>
              </a:rPr>
              <a:t>Google OR-Tools / CP-SAT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0149840" y="6172200"/>
            <a:ext cx="694944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287000" y="6172200"/>
            <a:ext cx="219456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D7482"/>
                </a:solidFill>
                <a:latin typeface="Arial"/>
              </a:rPr>
              <a:t>ML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2435840" y="6172200"/>
            <a:ext cx="457200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A3A"/>
                </a:solidFill>
                <a:latin typeface="Arial"/>
              </a:rPr>
              <a:t>LightGBM / XGBoost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0149840" y="6720840"/>
            <a:ext cx="694944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10287000" y="6720840"/>
            <a:ext cx="219456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D7482"/>
                </a:solidFill>
                <a:latin typeface="Arial"/>
              </a:rPr>
              <a:t>Maps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2435840" y="6720840"/>
            <a:ext cx="457200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A3A"/>
                </a:solidFill>
                <a:latin typeface="Arial"/>
              </a:rPr>
              <a:t>Google Maps / Mapbox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10149840" y="7269479"/>
            <a:ext cx="694944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10287000" y="7269479"/>
            <a:ext cx="219456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D7482"/>
                </a:solidFill>
                <a:latin typeface="Arial"/>
              </a:rPr>
              <a:t>Messaging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2435840" y="7269479"/>
            <a:ext cx="457200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A3A"/>
                </a:solidFill>
                <a:latin typeface="Arial"/>
              </a:rPr>
              <a:t>WhatsApp Business API / simulator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0149840" y="7818119"/>
            <a:ext cx="694944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10287000" y="7818119"/>
            <a:ext cx="219456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D7482"/>
                </a:solidFill>
                <a:latin typeface="Arial"/>
              </a:rPr>
              <a:t>Payments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2435840" y="7818119"/>
            <a:ext cx="457200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A3A"/>
                </a:solidFill>
                <a:latin typeface="Arial"/>
              </a:rPr>
              <a:t>UPI sandbox (Razorpay test)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10149840" y="8366760"/>
            <a:ext cx="694944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10287000" y="8366760"/>
            <a:ext cx="219456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D7482"/>
                </a:solidFill>
                <a:latin typeface="Arial"/>
              </a:rPr>
              <a:t>Deploy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2435840" y="8366760"/>
            <a:ext cx="4572000" cy="4754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2A3A"/>
                </a:solidFill>
                <a:latin typeface="Arial"/>
              </a:rPr>
              <a:t>Docker + cloud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24128" y="9601200"/>
            <a:ext cx="160020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B4F66"/>
                </a:solidFill>
                <a:latin typeface="Arial"/>
              </a:rPr>
              <a:t>Agent tools: get_inventory · optimize_basket · optimize_route · replan_order — every action policy-checked and audit-logged.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0" name="Google Shape;140;p4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4" name="Google Shape;134;p3"/>
          <p:cNvSpPr txBox="1"/>
          <p:nvPr/>
        </p:nvSpPr>
        <p:spPr>
          <a:xfrm>
            <a:off x="1028700" y="640080"/>
            <a:ext cx="15544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Optimization &amp; Failover Engine</a:t>
            </a:r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24128" y="1828800"/>
            <a:ext cx="16002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B4F66"/>
                </a:solidFill>
                <a:latin typeface="Arial"/>
              </a:rPr>
              <a:t>Optimization, not prompting: minimize total landed cost, then keep the plan alive when suppliers fail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024128" y="2514600"/>
            <a:ext cx="66751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2"/>
          <p:cNvSpPr/>
          <p:nvPr/>
        </p:nvSpPr>
        <p:spPr>
          <a:xfrm>
            <a:off x="1024128" y="2514600"/>
            <a:ext cx="6675120" cy="502920"/>
          </a:xfrm>
          <a:prstGeom prst="roundRect">
            <a:avLst>
              <a:gd name="adj" fmla="val 30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115568" y="2551176"/>
            <a:ext cx="649224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TOTAL LANDED-COST OPTIMIZER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88720" y="3108960"/>
            <a:ext cx="6400800" cy="2560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E2A3A"/>
                </a:solidFill>
                <a:latin typeface="Arial"/>
              </a:rPr>
              <a:t>Minimize: product + delivery + delay penalty + failure risk + supplier-count penalty + liquidity cost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E2A3A"/>
                </a:solidFill>
                <a:latin typeface="Arial"/>
              </a:rPr>
              <a:t>Subject to: stock, MOQ, budget, vehicle capacity, time windows, supplier hours, merchant policy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B7A8A"/>
                </a:solidFill>
                <a:latin typeface="Arial"/>
              </a:rPr>
              <a:t>Reliability-aware: ₹2/kg cheaper can cost more after delay + failure risk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E2A3A"/>
                </a:solidFill>
                <a:latin typeface="Arial"/>
              </a:rPr>
              <a:t>Cash-aware: immediate vs 7-day terms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024128" y="5943600"/>
            <a:ext cx="21031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64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1024128" y="5989320"/>
            <a:ext cx="2103120" cy="1554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5D7482"/>
                </a:solidFill>
                <a:latin typeface="Arial"/>
              </a:rPr>
              <a:t>Cheapest</a:t>
            </a:r>
          </a:p>
          <a:p>
            <a:pPr algn="ctr">
              <a:spcAft>
                <a:spcPts val="200"/>
              </a:spcAft>
            </a:pPr>
            <a:r>
              <a:rPr sz="2600" b="1">
                <a:solidFill>
                  <a:srgbClr val="D6402F"/>
                </a:solidFill>
                <a:latin typeface="Arial"/>
              </a:rPr>
              <a:t>₹18,050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0E2A3A"/>
                </a:solidFill>
                <a:latin typeface="Arial"/>
              </a:rPr>
              <a:t>Risk: HIGH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310128" y="5943600"/>
            <a:ext cx="2103120" cy="1600200"/>
          </a:xfrm>
          <a:prstGeom prst="roundRect">
            <a:avLst>
              <a:gd name="adj" fmla="val 10000"/>
            </a:avLst>
          </a:prstGeom>
          <a:solidFill>
            <a:srgbClr val="E6F6EE"/>
          </a:solidFill>
          <a:ln w="15875">
            <a:solidFill>
              <a:srgbClr val="129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3310128" y="5989320"/>
            <a:ext cx="2103120" cy="1554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5D7482"/>
                </a:solidFill>
                <a:latin typeface="Arial"/>
              </a:rPr>
              <a:t>Balanced</a:t>
            </a:r>
          </a:p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2915A"/>
                </a:solidFill>
                <a:latin typeface="Arial"/>
              </a:rPr>
              <a:t>₹18,420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0E2A3A"/>
                </a:solidFill>
                <a:latin typeface="Arial"/>
              </a:rPr>
              <a:t>Risk: LOW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596128" y="5943600"/>
            <a:ext cx="21031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B7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5596128" y="5989320"/>
            <a:ext cx="2103120" cy="1554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5D7482"/>
                </a:solidFill>
                <a:latin typeface="Arial"/>
              </a:rPr>
              <a:t>Fastest</a:t>
            </a:r>
          </a:p>
          <a:p>
            <a:pPr algn="ctr">
              <a:spcAft>
                <a:spcPts val="200"/>
              </a:spcAft>
            </a:pPr>
            <a:r>
              <a:rPr sz="2600" b="1">
                <a:solidFill>
                  <a:srgbClr val="0B7A8A"/>
                </a:solidFill>
                <a:latin typeface="Arial"/>
              </a:rPr>
              <a:t>₹18,760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0E2A3A"/>
                </a:solidFill>
                <a:latin typeface="Arial"/>
              </a:rPr>
              <a:t>1 hour earlier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7909560" y="2514600"/>
            <a:ext cx="9171432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ounded Rectangle 152"/>
          <p:cNvSpPr/>
          <p:nvPr/>
        </p:nvSpPr>
        <p:spPr>
          <a:xfrm>
            <a:off x="7909560" y="2514600"/>
            <a:ext cx="9171432" cy="502920"/>
          </a:xfrm>
          <a:prstGeom prst="roundRect">
            <a:avLst>
              <a:gd name="adj" fmla="val 30000"/>
            </a:avLst>
          </a:prstGeom>
          <a:solidFill>
            <a:srgbClr val="D6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001000" y="2551176"/>
            <a:ext cx="89885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SUPPLIER FAILOVER: THE CENTRE OF THE SYSTEM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092440" y="3246120"/>
            <a:ext cx="2423160" cy="1097280"/>
          </a:xfrm>
          <a:prstGeom prst="roundRect">
            <a:avLst>
              <a:gd name="adj" fmla="val 30000"/>
            </a:avLst>
          </a:prstGeom>
          <a:solidFill>
            <a:srgbClr val="0B4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8092440" y="3246120"/>
            <a:ext cx="242316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Need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100 kg rice</a:t>
            </a:r>
          </a:p>
        </p:txBody>
      </p:sp>
      <p:sp>
        <p:nvSpPr>
          <p:cNvPr id="157" name="Right Arrow 156"/>
          <p:cNvSpPr/>
          <p:nvPr/>
        </p:nvSpPr>
        <p:spPr>
          <a:xfrm>
            <a:off x="10543032" y="3639312"/>
            <a:ext cx="457200" cy="32004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11064240" y="3246120"/>
            <a:ext cx="2423160" cy="1097280"/>
          </a:xfrm>
          <a:prstGeom prst="roundRect">
            <a:avLst>
              <a:gd name="adj" fmla="val 30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11064240" y="3246120"/>
            <a:ext cx="242316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 confirms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100 kg</a:t>
            </a:r>
          </a:p>
        </p:txBody>
      </p:sp>
      <p:sp>
        <p:nvSpPr>
          <p:cNvPr id="160" name="Right Arrow 159"/>
          <p:cNvSpPr/>
          <p:nvPr/>
        </p:nvSpPr>
        <p:spPr>
          <a:xfrm>
            <a:off x="13514832" y="3639312"/>
            <a:ext cx="457200" cy="32004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ounded Rectangle 160"/>
          <p:cNvSpPr/>
          <p:nvPr/>
        </p:nvSpPr>
        <p:spPr>
          <a:xfrm>
            <a:off x="14036040" y="3246120"/>
            <a:ext cx="2423160" cy="1097280"/>
          </a:xfrm>
          <a:prstGeom prst="roundRect">
            <a:avLst>
              <a:gd name="adj" fmla="val 30000"/>
            </a:avLst>
          </a:prstGeom>
          <a:solidFill>
            <a:srgbClr val="D6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4036040" y="3246120"/>
            <a:ext cx="242316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 has only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40 kg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8092440" y="4754879"/>
            <a:ext cx="2423160" cy="1097280"/>
          </a:xfrm>
          <a:prstGeom prst="roundRect">
            <a:avLst>
              <a:gd name="adj" fmla="val 3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8092440" y="4754879"/>
            <a:ext cx="242316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Shortfall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60 kg</a:t>
            </a:r>
          </a:p>
        </p:txBody>
      </p:sp>
      <p:sp>
        <p:nvSpPr>
          <p:cNvPr id="165" name="Right Arrow 164"/>
          <p:cNvSpPr/>
          <p:nvPr/>
        </p:nvSpPr>
        <p:spPr>
          <a:xfrm>
            <a:off x="10543032" y="5148071"/>
            <a:ext cx="457200" cy="32004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ounded Rectangle 165"/>
          <p:cNvSpPr/>
          <p:nvPr/>
        </p:nvSpPr>
        <p:spPr>
          <a:xfrm>
            <a:off x="11064240" y="4754879"/>
            <a:ext cx="2423160" cy="1097280"/>
          </a:xfrm>
          <a:prstGeom prst="roundRect">
            <a:avLst>
              <a:gd name="adj" fmla="val 30000"/>
            </a:avLst>
          </a:prstGeom>
          <a:solidFill>
            <a:srgbClr val="12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11064240" y="4754879"/>
            <a:ext cx="242316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B 40 kg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+ D 20 kg</a:t>
            </a:r>
          </a:p>
        </p:txBody>
      </p:sp>
      <p:sp>
        <p:nvSpPr>
          <p:cNvPr id="168" name="Right Arrow 167"/>
          <p:cNvSpPr/>
          <p:nvPr/>
        </p:nvSpPr>
        <p:spPr>
          <a:xfrm>
            <a:off x="13514832" y="5148071"/>
            <a:ext cx="457200" cy="32004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ounded Rectangle 168"/>
          <p:cNvSpPr/>
          <p:nvPr/>
        </p:nvSpPr>
        <p:spPr>
          <a:xfrm>
            <a:off x="14036040" y="4754879"/>
            <a:ext cx="2423160" cy="1097280"/>
          </a:xfrm>
          <a:prstGeom prst="roundRect">
            <a:avLst>
              <a:gd name="adj" fmla="val 30000"/>
            </a:avLst>
          </a:prstGeom>
          <a:solidFill>
            <a:srgbClr val="12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4036040" y="4754879"/>
            <a:ext cx="242316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Route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re-optimized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092440" y="6263640"/>
            <a:ext cx="886968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2A3A"/>
                </a:solidFill>
                <a:latin typeface="Arial"/>
              </a:rPr>
              <a:t>No restart for the merchant. If nobody can fill the basket, the system says so: “80/100 kg available; substitute or 2 h delay?” It never hallucinates fulfillment.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024128" y="7772400"/>
            <a:ext cx="16056863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ounded Rectangle 172"/>
          <p:cNvSpPr/>
          <p:nvPr/>
        </p:nvSpPr>
        <p:spPr>
          <a:xfrm>
            <a:off x="1024128" y="7772400"/>
            <a:ext cx="16056863" cy="502920"/>
          </a:xfrm>
          <a:prstGeom prst="roundRect">
            <a:avLst>
              <a:gd name="adj" fmla="val 30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1115568" y="7808975"/>
            <a:ext cx="15873984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DELIVERY OPTIMIZATION (OR-TOOLS) + FULFILLMENT CONFIDENCE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188720" y="8366760"/>
            <a:ext cx="777240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E2A3A"/>
                </a:solidFill>
                <a:latin typeface="Arial"/>
              </a:rPr>
              <a:t>• Direct, consolidated milk-run, or multiple deliveries: chosen per order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E2A3A"/>
                </a:solidFill>
                <a:latin typeface="Arial"/>
              </a:rPr>
              <a:t>• Live re-planning when a supplier is delayed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2915A"/>
                </a:solidFill>
                <a:latin typeface="Arial"/>
              </a:rPr>
              <a:t>• Test data: 3 deliveries ₹19,100 → 1 route ₹18,420 (₹680 saved)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9692640" y="8412480"/>
            <a:ext cx="2240280" cy="128016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9692640" y="8458200"/>
            <a:ext cx="224028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2915A"/>
                </a:solidFill>
                <a:latin typeface="Arial"/>
              </a:rPr>
              <a:t>96%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5D7482"/>
                </a:solidFill>
                <a:latin typeface="Arial"/>
              </a:rPr>
              <a:t>Plan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2161520" y="8412480"/>
            <a:ext cx="2240280" cy="128016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12161520" y="8458200"/>
            <a:ext cx="224028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D6402F"/>
                </a:solidFill>
                <a:latin typeface="Arial"/>
              </a:rPr>
              <a:t>91%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5D7482"/>
                </a:solidFill>
                <a:latin typeface="Arial"/>
              </a:rPr>
              <a:t>A fails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4630400" y="8412480"/>
            <a:ext cx="2240280" cy="128016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4630400" y="8458200"/>
            <a:ext cx="224028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2915A"/>
                </a:solidFill>
                <a:latin typeface="Arial"/>
              </a:rPr>
              <a:t>95%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5D7482"/>
                </a:solidFill>
                <a:latin typeface="Arial"/>
              </a:rPr>
              <a:t>Backup 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6" name="Google Shape;146;p5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7" name="Google Shape;147;p5"/>
          <p:cNvSpPr txBox="1"/>
          <p:nvPr/>
        </p:nvSpPr>
        <p:spPr>
          <a:xfrm>
            <a:off x="1028700" y="640080"/>
            <a:ext cx="15544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Data Flow Diagram</a:t>
            </a:r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024128" y="1828800"/>
            <a:ext cx="16002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B4F66"/>
                </a:solidFill>
                <a:latin typeface="Arial"/>
              </a:rPr>
              <a:t>Event-driven order lifecycle with a failure loop at every stage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024128" y="2468880"/>
            <a:ext cx="2331720" cy="868680"/>
          </a:xfrm>
          <a:prstGeom prst="roundRect">
            <a:avLst>
              <a:gd name="adj" fmla="val 30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1024128" y="2468880"/>
            <a:ext cx="233172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ORDER_​CREATED</a:t>
            </a:r>
          </a:p>
        </p:txBody>
      </p:sp>
      <p:sp>
        <p:nvSpPr>
          <p:cNvPr id="151" name="Right Arrow 150"/>
          <p:cNvSpPr/>
          <p:nvPr/>
        </p:nvSpPr>
        <p:spPr>
          <a:xfrm>
            <a:off x="3374136" y="2743200"/>
            <a:ext cx="310896" cy="27432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ounded Rectangle 151"/>
          <p:cNvSpPr/>
          <p:nvPr/>
        </p:nvSpPr>
        <p:spPr>
          <a:xfrm>
            <a:off x="3721608" y="2468880"/>
            <a:ext cx="2331720" cy="868680"/>
          </a:xfrm>
          <a:prstGeom prst="roundRect">
            <a:avLst>
              <a:gd name="adj" fmla="val 30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3721608" y="2468880"/>
            <a:ext cx="233172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ORDER_​PARSED</a:t>
            </a:r>
          </a:p>
        </p:txBody>
      </p:sp>
      <p:sp>
        <p:nvSpPr>
          <p:cNvPr id="154" name="Right Arrow 153"/>
          <p:cNvSpPr/>
          <p:nvPr/>
        </p:nvSpPr>
        <p:spPr>
          <a:xfrm>
            <a:off x="6071616" y="2743200"/>
            <a:ext cx="310896" cy="27432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ounded Rectangle 154"/>
          <p:cNvSpPr/>
          <p:nvPr/>
        </p:nvSpPr>
        <p:spPr>
          <a:xfrm>
            <a:off x="6419088" y="2468880"/>
            <a:ext cx="2331720" cy="868680"/>
          </a:xfrm>
          <a:prstGeom prst="roundRect">
            <a:avLst>
              <a:gd name="adj" fmla="val 30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6419088" y="2468880"/>
            <a:ext cx="233172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SUPPLIERS_​DISCOVERED</a:t>
            </a:r>
          </a:p>
        </p:txBody>
      </p:sp>
      <p:sp>
        <p:nvSpPr>
          <p:cNvPr id="157" name="Right Arrow 156"/>
          <p:cNvSpPr/>
          <p:nvPr/>
        </p:nvSpPr>
        <p:spPr>
          <a:xfrm>
            <a:off x="8769096" y="2743200"/>
            <a:ext cx="310896" cy="27432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9116568" y="2468880"/>
            <a:ext cx="2331720" cy="868680"/>
          </a:xfrm>
          <a:prstGeom prst="roundRect">
            <a:avLst>
              <a:gd name="adj" fmla="val 30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9116568" y="2468880"/>
            <a:ext cx="233172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ALLOCATION_​GENERATED</a:t>
            </a:r>
          </a:p>
        </p:txBody>
      </p:sp>
      <p:sp>
        <p:nvSpPr>
          <p:cNvPr id="160" name="Right Arrow 159"/>
          <p:cNvSpPr/>
          <p:nvPr/>
        </p:nvSpPr>
        <p:spPr>
          <a:xfrm>
            <a:off x="11466576" y="2743200"/>
            <a:ext cx="310896" cy="27432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ounded Rectangle 160"/>
          <p:cNvSpPr/>
          <p:nvPr/>
        </p:nvSpPr>
        <p:spPr>
          <a:xfrm>
            <a:off x="11814048" y="2468880"/>
            <a:ext cx="2331720" cy="868680"/>
          </a:xfrm>
          <a:prstGeom prst="roundRect">
            <a:avLst>
              <a:gd name="adj" fmla="val 30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1814048" y="2468880"/>
            <a:ext cx="233172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DELIVERY_​PLAN</a:t>
            </a:r>
          </a:p>
        </p:txBody>
      </p:sp>
      <p:sp>
        <p:nvSpPr>
          <p:cNvPr id="163" name="Right Arrow 162"/>
          <p:cNvSpPr/>
          <p:nvPr/>
        </p:nvSpPr>
        <p:spPr>
          <a:xfrm>
            <a:off x="14164056" y="2743200"/>
            <a:ext cx="310896" cy="27432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ounded Rectangle 163"/>
          <p:cNvSpPr/>
          <p:nvPr/>
        </p:nvSpPr>
        <p:spPr>
          <a:xfrm>
            <a:off x="14511528" y="2468880"/>
            <a:ext cx="2331720" cy="868680"/>
          </a:xfrm>
          <a:prstGeom prst="roundRect">
            <a:avLst>
              <a:gd name="adj" fmla="val 30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4511528" y="2468880"/>
            <a:ext cx="233172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MERCHANT_​APPROVAL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024128" y="3794760"/>
            <a:ext cx="2331720" cy="868680"/>
          </a:xfrm>
          <a:prstGeom prst="roundRect">
            <a:avLst>
              <a:gd name="adj" fmla="val 30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1024128" y="3794760"/>
            <a:ext cx="233172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PAYMENT_​CONFIRMED</a:t>
            </a:r>
          </a:p>
        </p:txBody>
      </p:sp>
      <p:sp>
        <p:nvSpPr>
          <p:cNvPr id="168" name="Right Arrow 167"/>
          <p:cNvSpPr/>
          <p:nvPr/>
        </p:nvSpPr>
        <p:spPr>
          <a:xfrm>
            <a:off x="3374136" y="4069080"/>
            <a:ext cx="310896" cy="27432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ounded Rectangle 168"/>
          <p:cNvSpPr/>
          <p:nvPr/>
        </p:nvSpPr>
        <p:spPr>
          <a:xfrm>
            <a:off x="3721608" y="3794760"/>
            <a:ext cx="2331720" cy="868680"/>
          </a:xfrm>
          <a:prstGeom prst="roundRect">
            <a:avLst>
              <a:gd name="adj" fmla="val 30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3721608" y="3794760"/>
            <a:ext cx="233172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SUPPLIER_​CONFIRMED</a:t>
            </a:r>
          </a:p>
        </p:txBody>
      </p:sp>
      <p:sp>
        <p:nvSpPr>
          <p:cNvPr id="171" name="Right Arrow 170"/>
          <p:cNvSpPr/>
          <p:nvPr/>
        </p:nvSpPr>
        <p:spPr>
          <a:xfrm>
            <a:off x="6071616" y="4069080"/>
            <a:ext cx="310896" cy="27432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ounded Rectangle 171"/>
          <p:cNvSpPr/>
          <p:nvPr/>
        </p:nvSpPr>
        <p:spPr>
          <a:xfrm>
            <a:off x="6419088" y="3794760"/>
            <a:ext cx="2331720" cy="868680"/>
          </a:xfrm>
          <a:prstGeom prst="roundRect">
            <a:avLst>
              <a:gd name="adj" fmla="val 30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6419088" y="3794760"/>
            <a:ext cx="233172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PICKUP</a:t>
            </a:r>
          </a:p>
        </p:txBody>
      </p:sp>
      <p:sp>
        <p:nvSpPr>
          <p:cNvPr id="174" name="Right Arrow 173"/>
          <p:cNvSpPr/>
          <p:nvPr/>
        </p:nvSpPr>
        <p:spPr>
          <a:xfrm>
            <a:off x="8769096" y="4069080"/>
            <a:ext cx="310896" cy="27432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ounded Rectangle 174"/>
          <p:cNvSpPr/>
          <p:nvPr/>
        </p:nvSpPr>
        <p:spPr>
          <a:xfrm>
            <a:off x="9116568" y="3794760"/>
            <a:ext cx="2331720" cy="868680"/>
          </a:xfrm>
          <a:prstGeom prst="roundRect">
            <a:avLst>
              <a:gd name="adj" fmla="val 30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9116568" y="3794760"/>
            <a:ext cx="233172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DELIVERY</a:t>
            </a:r>
          </a:p>
        </p:txBody>
      </p:sp>
      <p:sp>
        <p:nvSpPr>
          <p:cNvPr id="177" name="Right Arrow 176"/>
          <p:cNvSpPr/>
          <p:nvPr/>
        </p:nvSpPr>
        <p:spPr>
          <a:xfrm>
            <a:off x="11466576" y="4069080"/>
            <a:ext cx="310896" cy="27432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ounded Rectangle 177"/>
          <p:cNvSpPr/>
          <p:nvPr/>
        </p:nvSpPr>
        <p:spPr>
          <a:xfrm>
            <a:off x="11814048" y="3794760"/>
            <a:ext cx="2331720" cy="868680"/>
          </a:xfrm>
          <a:prstGeom prst="roundRect">
            <a:avLst>
              <a:gd name="adj" fmla="val 30000"/>
            </a:avLst>
          </a:prstGeom>
          <a:solidFill>
            <a:srgbClr val="12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11814048" y="3794760"/>
            <a:ext cx="233172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COMPLETED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024128" y="5257800"/>
            <a:ext cx="16056863" cy="16002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5875">
            <a:solidFill>
              <a:srgbClr val="D64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188720" y="5303520"/>
            <a:ext cx="2834640" cy="1508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6402F"/>
                </a:solidFill>
                <a:latin typeface="Arial"/>
              </a:rPr>
              <a:t>FAILURE LOOP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E2A3A"/>
                </a:solidFill>
                <a:latin typeface="Arial"/>
              </a:rPr>
              <a:t>shortfall · rejection · delay at any stage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4114800" y="5715000"/>
            <a:ext cx="2286000" cy="731520"/>
          </a:xfrm>
          <a:prstGeom prst="roundRect">
            <a:avLst>
              <a:gd name="adj" fmla="val 30000"/>
            </a:avLst>
          </a:prstGeom>
          <a:solidFill>
            <a:srgbClr val="D6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4114800" y="5715000"/>
            <a:ext cx="22860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SUPPLIER_​SHORTFALL</a:t>
            </a:r>
          </a:p>
        </p:txBody>
      </p:sp>
      <p:sp>
        <p:nvSpPr>
          <p:cNvPr id="184" name="Right Arrow 183"/>
          <p:cNvSpPr/>
          <p:nvPr/>
        </p:nvSpPr>
        <p:spPr>
          <a:xfrm>
            <a:off x="6419088" y="5897880"/>
            <a:ext cx="274320" cy="27432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ounded Rectangle 184"/>
          <p:cNvSpPr/>
          <p:nvPr/>
        </p:nvSpPr>
        <p:spPr>
          <a:xfrm>
            <a:off x="6720840" y="5715000"/>
            <a:ext cx="2286000" cy="731520"/>
          </a:xfrm>
          <a:prstGeom prst="roundRect">
            <a:avLst>
              <a:gd name="adj" fmla="val 3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6720840" y="5715000"/>
            <a:ext cx="22860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REPLAN</a:t>
            </a:r>
          </a:p>
        </p:txBody>
      </p:sp>
      <p:sp>
        <p:nvSpPr>
          <p:cNvPr id="187" name="Right Arrow 186"/>
          <p:cNvSpPr/>
          <p:nvPr/>
        </p:nvSpPr>
        <p:spPr>
          <a:xfrm>
            <a:off x="9025128" y="5897880"/>
            <a:ext cx="274320" cy="27432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ounded Rectangle 187"/>
          <p:cNvSpPr/>
          <p:nvPr/>
        </p:nvSpPr>
        <p:spPr>
          <a:xfrm>
            <a:off x="9326880" y="5715000"/>
            <a:ext cx="2286000" cy="731520"/>
          </a:xfrm>
          <a:prstGeom prst="roundRect">
            <a:avLst>
              <a:gd name="adj" fmla="val 3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9326880" y="5715000"/>
            <a:ext cx="22860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NEW_​SUPPLIER_​SELECTED</a:t>
            </a:r>
          </a:p>
        </p:txBody>
      </p:sp>
      <p:sp>
        <p:nvSpPr>
          <p:cNvPr id="190" name="Right Arrow 189"/>
          <p:cNvSpPr/>
          <p:nvPr/>
        </p:nvSpPr>
        <p:spPr>
          <a:xfrm>
            <a:off x="11631167" y="5897880"/>
            <a:ext cx="274320" cy="27432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ounded Rectangle 190"/>
          <p:cNvSpPr/>
          <p:nvPr/>
        </p:nvSpPr>
        <p:spPr>
          <a:xfrm>
            <a:off x="11932920" y="5715000"/>
            <a:ext cx="2286000" cy="731520"/>
          </a:xfrm>
          <a:prstGeom prst="roundRect">
            <a:avLst>
              <a:gd name="adj" fmla="val 300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11932920" y="5715000"/>
            <a:ext cx="22860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ROUTE_​REOPTIMIZED</a:t>
            </a:r>
          </a:p>
        </p:txBody>
      </p:sp>
      <p:sp>
        <p:nvSpPr>
          <p:cNvPr id="193" name="Right Arrow 192"/>
          <p:cNvSpPr/>
          <p:nvPr/>
        </p:nvSpPr>
        <p:spPr>
          <a:xfrm>
            <a:off x="14237208" y="5897880"/>
            <a:ext cx="274320" cy="27432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ounded Rectangle 193"/>
          <p:cNvSpPr/>
          <p:nvPr/>
        </p:nvSpPr>
        <p:spPr>
          <a:xfrm>
            <a:off x="14538960" y="5715000"/>
            <a:ext cx="2286000" cy="731520"/>
          </a:xfrm>
          <a:prstGeom prst="roundRect">
            <a:avLst>
              <a:gd name="adj" fmla="val 30000"/>
            </a:avLst>
          </a:prstGeom>
          <a:solidFill>
            <a:srgbClr val="12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14538960" y="5715000"/>
            <a:ext cx="228600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MERCHANT_​UPDATED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1024128" y="7132320"/>
            <a:ext cx="786384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ounded Rectangle 196"/>
          <p:cNvSpPr/>
          <p:nvPr/>
        </p:nvSpPr>
        <p:spPr>
          <a:xfrm>
            <a:off x="1024128" y="7132320"/>
            <a:ext cx="7863840" cy="502920"/>
          </a:xfrm>
          <a:prstGeom prst="roundRect">
            <a:avLst>
              <a:gd name="adj" fmla="val 30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1115568" y="7168896"/>
            <a:ext cx="76809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CORE DATA MODEL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1188720" y="7863840"/>
            <a:ext cx="2423160" cy="502920"/>
          </a:xfrm>
          <a:prstGeom prst="roundRect">
            <a:avLst>
              <a:gd name="adj" fmla="val 30000"/>
            </a:avLst>
          </a:prstGeom>
          <a:solidFill>
            <a:srgbClr val="EA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1188720" y="7863840"/>
            <a:ext cx="24231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B4F66"/>
                </a:solidFill>
                <a:latin typeface="Arial"/>
              </a:rPr>
              <a:t>Merchant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3749039" y="7863840"/>
            <a:ext cx="2423160" cy="502920"/>
          </a:xfrm>
          <a:prstGeom prst="roundRect">
            <a:avLst>
              <a:gd name="adj" fmla="val 30000"/>
            </a:avLst>
          </a:prstGeom>
          <a:solidFill>
            <a:srgbClr val="EA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3749039" y="7863840"/>
            <a:ext cx="24231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B4F66"/>
                </a:solidFill>
                <a:latin typeface="Arial"/>
              </a:rPr>
              <a:t>Product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6309359" y="7863840"/>
            <a:ext cx="2423160" cy="502920"/>
          </a:xfrm>
          <a:prstGeom prst="roundRect">
            <a:avLst>
              <a:gd name="adj" fmla="val 30000"/>
            </a:avLst>
          </a:prstGeom>
          <a:solidFill>
            <a:srgbClr val="EA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6309359" y="7863840"/>
            <a:ext cx="24231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B4F66"/>
                </a:solidFill>
                <a:latin typeface="Arial"/>
              </a:rPr>
              <a:t>Supplier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188720" y="8485632"/>
            <a:ext cx="2423160" cy="502920"/>
          </a:xfrm>
          <a:prstGeom prst="roundRect">
            <a:avLst>
              <a:gd name="adj" fmla="val 30000"/>
            </a:avLst>
          </a:prstGeom>
          <a:solidFill>
            <a:srgbClr val="EA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1188720" y="8485632"/>
            <a:ext cx="24231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B4F66"/>
                </a:solidFill>
                <a:latin typeface="Arial"/>
              </a:rPr>
              <a:t>SupplierInventory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3749039" y="8485632"/>
            <a:ext cx="2423160" cy="502920"/>
          </a:xfrm>
          <a:prstGeom prst="roundRect">
            <a:avLst>
              <a:gd name="adj" fmla="val 30000"/>
            </a:avLst>
          </a:prstGeom>
          <a:solidFill>
            <a:srgbClr val="EA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3749039" y="8485632"/>
            <a:ext cx="24231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B4F66"/>
                </a:solidFill>
                <a:latin typeface="Arial"/>
              </a:rPr>
              <a:t>Order / OrderItem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6309359" y="8485632"/>
            <a:ext cx="2423160" cy="502920"/>
          </a:xfrm>
          <a:prstGeom prst="roundRect">
            <a:avLst>
              <a:gd name="adj" fmla="val 30000"/>
            </a:avLst>
          </a:prstGeom>
          <a:solidFill>
            <a:srgbClr val="EA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6309359" y="8485632"/>
            <a:ext cx="24231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B4F66"/>
                </a:solidFill>
                <a:latin typeface="Arial"/>
              </a:rPr>
              <a:t>Allocation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1188720" y="9107424"/>
            <a:ext cx="2423160" cy="502920"/>
          </a:xfrm>
          <a:prstGeom prst="roundRect">
            <a:avLst>
              <a:gd name="adj" fmla="val 30000"/>
            </a:avLst>
          </a:prstGeom>
          <a:solidFill>
            <a:srgbClr val="EA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1188720" y="9107424"/>
            <a:ext cx="24231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B4F66"/>
                </a:solidFill>
                <a:latin typeface="Arial"/>
              </a:rPr>
              <a:t>DeliveryPlan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3749039" y="9107424"/>
            <a:ext cx="2423160" cy="502920"/>
          </a:xfrm>
          <a:prstGeom prst="roundRect">
            <a:avLst>
              <a:gd name="adj" fmla="val 30000"/>
            </a:avLst>
          </a:prstGeom>
          <a:solidFill>
            <a:srgbClr val="EA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3749039" y="9107424"/>
            <a:ext cx="24231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B4F66"/>
                </a:solidFill>
                <a:latin typeface="Arial"/>
              </a:rPr>
              <a:t>SupplierEvent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6309359" y="9107424"/>
            <a:ext cx="2423160" cy="502920"/>
          </a:xfrm>
          <a:prstGeom prst="roundRect">
            <a:avLst>
              <a:gd name="adj" fmla="val 30000"/>
            </a:avLst>
          </a:prstGeom>
          <a:solidFill>
            <a:srgbClr val="EA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6309359" y="9107424"/>
            <a:ext cx="24231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B4F66"/>
                </a:solidFill>
                <a:latin typeface="Arial"/>
              </a:rPr>
              <a:t>Payment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9098280" y="7132320"/>
            <a:ext cx="7982712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ounded Rectangle 217"/>
          <p:cNvSpPr/>
          <p:nvPr/>
        </p:nvSpPr>
        <p:spPr>
          <a:xfrm>
            <a:off x="9098280" y="7132320"/>
            <a:ext cx="7982712" cy="502920"/>
          </a:xfrm>
          <a:prstGeom prst="roundRect">
            <a:avLst>
              <a:gd name="adj" fmla="val 30000"/>
            </a:avLst>
          </a:prstGeom>
          <a:solidFill>
            <a:srgbClr val="0B4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9189719" y="7168896"/>
            <a:ext cx="779983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GUARDRAILS: CONTROLLED AGENTIC COMMERCE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9235440" y="7726679"/>
            <a:ext cx="7680960" cy="2103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7A8A"/>
                </a:solidFill>
                <a:latin typeface="Arial"/>
              </a:rPr>
              <a:t>Intent → policy check → tool → audit log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E2A3A"/>
                </a:solidFill>
                <a:latin typeface="Arial"/>
              </a:rPr>
              <a:t>Merchant-set limits: budget, price tolerance, minimum reliability, auto-failover ON, auto-substitution OFF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E2A3A"/>
                </a:solidFill>
                <a:latin typeface="Arial"/>
              </a:rPr>
              <a:t>Every decision explainable: reliability, distance, terms, landed-cost gap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3" name="Google Shape;153;p6"/>
          <p:cNvSpPr/>
          <p:nvPr/>
        </p:nvSpPr>
        <p:spPr>
          <a:xfrm>
            <a:off x="7650869" y="-5414219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4" name="Google Shape;154;p6"/>
          <p:cNvSpPr txBox="1"/>
          <p:nvPr/>
        </p:nvSpPr>
        <p:spPr>
          <a:xfrm>
            <a:off x="1028700" y="640080"/>
            <a:ext cx="15544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Screenshot of Your Project</a:t>
            </a:r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024128" y="1828800"/>
            <a:ext cx="16002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B4F66"/>
                </a:solidFill>
                <a:latin typeface="Arial"/>
              </a:rPr>
              <a:t>Real prototype UI: WhatsApp merchant app + control tower. Suppliers, stock and payments are simulated; optimizer and AI calls are real.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024128" y="2468880"/>
            <a:ext cx="5806440" cy="3154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7" name="Picture 156" descr="s_f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328" y="2560320"/>
            <a:ext cx="4892040" cy="2637115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1024128" y="5193792"/>
            <a:ext cx="58064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4F66"/>
                </a:solidFill>
                <a:latin typeface="Arial"/>
              </a:rPr>
              <a:t>1 · Voice order → parsed basket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7013448" y="2468880"/>
            <a:ext cx="5806440" cy="3154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0" name="Picture 159" descr="s_f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0648" y="2560320"/>
            <a:ext cx="4892040" cy="2637115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7013448" y="5193792"/>
            <a:ext cx="58064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4F66"/>
                </a:solidFill>
                <a:latin typeface="Arial"/>
              </a:rPr>
              <a:t>2 · Optimal plan: ₹19,100 → ₹18,420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1024128" y="5897880"/>
            <a:ext cx="5806440" cy="3154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3" name="Picture 162" descr="s_f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1328" y="5989320"/>
            <a:ext cx="4892040" cy="2637115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1024128" y="8622792"/>
            <a:ext cx="58064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4F66"/>
                </a:solidFill>
                <a:latin typeface="Arial"/>
              </a:rPr>
              <a:t>3 · Supplier A fails: shortfall 60 kg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7013448" y="5897880"/>
            <a:ext cx="5806440" cy="3154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6" name="Picture 165" descr="s_f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0648" y="5989320"/>
            <a:ext cx="4892040" cy="2637115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7013448" y="8622792"/>
            <a:ext cx="58064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4F66"/>
                </a:solidFill>
                <a:latin typeface="Arial"/>
              </a:rPr>
              <a:t>4 · Auto-failover + route re-optimized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3032921" y="2441666"/>
            <a:ext cx="4279392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ounded Rectangle 168"/>
          <p:cNvSpPr/>
          <p:nvPr/>
        </p:nvSpPr>
        <p:spPr>
          <a:xfrm>
            <a:off x="13046529" y="2468880"/>
            <a:ext cx="4279392" cy="502920"/>
          </a:xfrm>
          <a:prstGeom prst="roundRect">
            <a:avLst>
              <a:gd name="adj" fmla="val 30000"/>
            </a:avLst>
          </a:prstGeom>
          <a:solidFill>
            <a:srgbClr val="12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3206004" y="2464635"/>
            <a:ext cx="4096511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LIVE DEMO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3170081" y="3185705"/>
            <a:ext cx="402336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E2A3A"/>
                </a:solidFill>
                <a:latin typeface="Arial"/>
              </a:rPr>
              <a:t>Interactive prototype: click through voice → plan → failure → recovery.</a:t>
            </a:r>
          </a:p>
        </p:txBody>
      </p:sp>
      <p:sp>
        <p:nvSpPr>
          <p:cNvPr id="172" name="Rounded Rectangle 171">
            <a:hlinkClick r:id="rId9"/>
          </p:cNvPr>
          <p:cNvSpPr/>
          <p:nvPr/>
        </p:nvSpPr>
        <p:spPr>
          <a:xfrm>
            <a:off x="13174980" y="4291693"/>
            <a:ext cx="3913632" cy="731520"/>
          </a:xfrm>
          <a:prstGeom prst="roundRect">
            <a:avLst>
              <a:gd name="adj" fmla="val 30000"/>
            </a:avLst>
          </a:prstGeom>
          <a:solidFill>
            <a:srgbClr val="12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13174980" y="4491253"/>
            <a:ext cx="3913632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Arial"/>
              </a:rPr>
              <a:t>▶</a:t>
            </a:r>
            <a:r>
              <a:rPr lang="en-US" sz="1800" b="1" dirty="0">
                <a:solidFill>
                  <a:srgbClr val="FFFFFF"/>
                </a:solidFill>
                <a:hlinkClick r:id="rId10"/>
              </a:rPr>
              <a:t>Watch Live Demo</a:t>
            </a:r>
            <a:endParaRPr sz="1800" b="1">
              <a:solidFill>
                <a:srgbClr val="FFFFFF"/>
              </a:solidFill>
              <a:latin typeface="Arial"/>
              <a:hlinkClick r:id="rId10"/>
            </a:endParaRPr>
          </a:p>
        </p:txBody>
      </p:sp>
      <p:sp>
        <p:nvSpPr>
          <p:cNvPr id="175" name="Rounded Rectangle 174"/>
          <p:cNvSpPr/>
          <p:nvPr/>
        </p:nvSpPr>
        <p:spPr>
          <a:xfrm>
            <a:off x="13087350" y="5839641"/>
            <a:ext cx="4279392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ounded Rectangle 175"/>
          <p:cNvSpPr/>
          <p:nvPr/>
        </p:nvSpPr>
        <p:spPr>
          <a:xfrm>
            <a:off x="13087350" y="5962106"/>
            <a:ext cx="4279392" cy="502920"/>
          </a:xfrm>
          <a:prstGeom prst="roundRect">
            <a:avLst>
              <a:gd name="adj" fmla="val 30000"/>
            </a:avLst>
          </a:prstGeom>
          <a:solidFill>
            <a:srgbClr val="0B4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13192397" y="5985075"/>
            <a:ext cx="4096511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DEMO VIDEO (3 MIN)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3197296" y="6719751"/>
            <a:ext cx="40233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E2A3A"/>
                </a:solidFill>
                <a:latin typeface="Arial"/>
              </a:rPr>
              <a:t>3-min captioned walkthrough: voice order to failover to payment.</a:t>
            </a:r>
          </a:p>
        </p:txBody>
      </p:sp>
      <p:sp>
        <p:nvSpPr>
          <p:cNvPr id="179" name="Rounded Rectangle 178">
            <a:hlinkClick r:id="rId11"/>
          </p:cNvPr>
          <p:cNvSpPr/>
          <p:nvPr/>
        </p:nvSpPr>
        <p:spPr>
          <a:xfrm>
            <a:off x="13270230" y="7531281"/>
            <a:ext cx="3913632" cy="731520"/>
          </a:xfrm>
          <a:prstGeom prst="roundRect">
            <a:avLst>
              <a:gd name="adj" fmla="val 30000"/>
            </a:avLst>
          </a:prstGeom>
          <a:solidFill>
            <a:srgbClr val="0B4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13270230" y="7730841"/>
            <a:ext cx="3913632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🎬 </a:t>
            </a:r>
            <a:r>
              <a:rPr lang="en-US" sz="1800" b="1" dirty="0">
                <a:solidFill>
                  <a:srgbClr val="FFFFFF"/>
                </a:solidFill>
                <a:hlinkClick r:id="rId12"/>
              </a:rPr>
              <a:t>WATCH</a:t>
            </a:r>
            <a:r>
              <a:rPr sz="1800" b="1" dirty="0">
                <a:solidFill>
                  <a:srgbClr val="FFFFFF"/>
                </a:solidFill>
                <a:hlinkClick r:id="rId12"/>
              </a:rPr>
              <a:t> DEMO VIDEO</a:t>
            </a:r>
            <a:endParaRPr sz="1800" b="1">
              <a:solidFill>
                <a:srgbClr val="FFFFFF"/>
              </a:solidFill>
              <a:latin typeface="Arial"/>
              <a:hlinkClick r:id="rId12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1024128" y="9372600"/>
            <a:ext cx="11430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4F66"/>
                </a:solidFill>
                <a:latin typeface="Arial"/>
              </a:rPr>
              <a:t>Control tower: fulfillment 97.8% · stockout risk LOW · 1.2 trips/order · reliability 94% · procurement 3m 18s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0" t="-19076" r="-3000" b="-11427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0" name="Google Shape;160;p7"/>
          <p:cNvSpPr/>
          <p:nvPr/>
        </p:nvSpPr>
        <p:spPr>
          <a:xfrm>
            <a:off x="5317038" y="-4518398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 extrusionOk="0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1" name="Google Shape;161;p7"/>
          <p:cNvSpPr txBox="1"/>
          <p:nvPr/>
        </p:nvSpPr>
        <p:spPr>
          <a:xfrm>
            <a:off x="1028700" y="640080"/>
            <a:ext cx="15544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Others</a:t>
            </a:r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024128" y="1828800"/>
            <a:ext cx="16002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B4F66"/>
                </a:solidFill>
                <a:latin typeface="Arial"/>
              </a:rPr>
              <a:t>Targets below are pilot hypotheses to be measured, not achieved results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024128" y="2423160"/>
            <a:ext cx="30632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1024128" y="2468880"/>
            <a:ext cx="3063240" cy="1371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0B7A8A"/>
                </a:solidFill>
                <a:latin typeface="Arial"/>
              </a:rPr>
              <a:t>50–70%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5D7482"/>
                </a:solidFill>
                <a:latin typeface="Arial"/>
              </a:rPr>
              <a:t>less procurement time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4270248" y="2423160"/>
            <a:ext cx="30632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4270248" y="2468880"/>
            <a:ext cx="3063240" cy="1371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0B7A8A"/>
                </a:solidFill>
                <a:latin typeface="Arial"/>
              </a:rPr>
              <a:t>&gt;95%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5D7482"/>
                </a:solidFill>
                <a:latin typeface="Arial"/>
              </a:rPr>
              <a:t>basket fulfillment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7516367" y="2423160"/>
            <a:ext cx="30632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516367" y="2468880"/>
            <a:ext cx="3063240" cy="1371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0B7A8A"/>
                </a:solidFill>
                <a:latin typeface="Arial"/>
              </a:rPr>
              <a:t>20–30%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5D7482"/>
                </a:solidFill>
                <a:latin typeface="Arial"/>
              </a:rPr>
              <a:t>fewer stockout lost sales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0762488" y="2423160"/>
            <a:ext cx="30632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762488" y="2468880"/>
            <a:ext cx="3063240" cy="1371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0B7A8A"/>
                </a:solidFill>
                <a:latin typeface="Arial"/>
              </a:rPr>
              <a:t>15–30%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5D7482"/>
                </a:solidFill>
                <a:latin typeface="Arial"/>
              </a:rPr>
              <a:t>fewer fragmented trips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4008608" y="2423160"/>
            <a:ext cx="30632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14008608" y="2468880"/>
            <a:ext cx="3063240" cy="1371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0B7A8A"/>
                </a:solidFill>
                <a:latin typeface="Arial"/>
              </a:rPr>
              <a:t>3–8%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5D7482"/>
                </a:solidFill>
                <a:latin typeface="Arial"/>
              </a:rPr>
              <a:t>lower landed cost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024128" y="4114800"/>
            <a:ext cx="52120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ounded Rectangle 173"/>
          <p:cNvSpPr/>
          <p:nvPr/>
        </p:nvSpPr>
        <p:spPr>
          <a:xfrm>
            <a:off x="1024128" y="4114800"/>
            <a:ext cx="5212080" cy="502920"/>
          </a:xfrm>
          <a:prstGeom prst="roundRect">
            <a:avLst>
              <a:gd name="adj" fmla="val 30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1115568" y="4151376"/>
            <a:ext cx="50292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BUSINESS MODEL &amp; PILOT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188720" y="4709160"/>
            <a:ext cx="4937760" cy="2743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0E2A3A"/>
                </a:solidFill>
                <a:latin typeface="Arial"/>
              </a:rPr>
              <a:t>• Transaction fee on fulfilled orders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E2A3A"/>
                </a:solidFill>
                <a:latin typeface="Arial"/>
              </a:rPr>
              <a:t>• Subscription: predictive stockout, analytics, policies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E2A3A"/>
                </a:solidFill>
                <a:latin typeface="Arial"/>
              </a:rPr>
              <a:t>• Logistics margin; later regulated financing partners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0B7A8A"/>
                </a:solidFill>
                <a:latin typeface="Arial"/>
              </a:rPr>
              <a:t>• Pilot: 1 micro-market · 20 merchants · 10–20 suppliers · 3–5 km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6446520" y="4114800"/>
            <a:ext cx="52120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ounded Rectangle 177"/>
          <p:cNvSpPr/>
          <p:nvPr/>
        </p:nvSpPr>
        <p:spPr>
          <a:xfrm>
            <a:off x="6446520" y="4114800"/>
            <a:ext cx="5212080" cy="502920"/>
          </a:xfrm>
          <a:prstGeom prst="roundRect">
            <a:avLst>
              <a:gd name="adj" fmla="val 30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6537959" y="4151376"/>
            <a:ext cx="50292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EVALUATION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583680" y="4709160"/>
            <a:ext cx="4937760" cy="2743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E2A3A"/>
                </a:solidFill>
                <a:latin typeface="Arial"/>
              </a:rPr>
              <a:t>Baselines: nearest, cheapest, single-supplier, manual / random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E2A3A"/>
                </a:solidFill>
                <a:latin typeface="Arial"/>
              </a:rPr>
              <a:t>Metrics: cost, distance, deliveries, fulfillment, deadline success, failure-recovery time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2915A"/>
                </a:solidFill>
                <a:latin typeface="Arial"/>
              </a:rPr>
              <a:t>Ours: joint procurement + routing → lowest landed cost, fewest trips, automatic recovery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11868912" y="4114800"/>
            <a:ext cx="52120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ounded Rectangle 181"/>
          <p:cNvSpPr/>
          <p:nvPr/>
        </p:nvSpPr>
        <p:spPr>
          <a:xfrm>
            <a:off x="11868912" y="4114800"/>
            <a:ext cx="5212080" cy="502920"/>
          </a:xfrm>
          <a:prstGeom prst="roundRect">
            <a:avLst>
              <a:gd name="adj" fmla="val 30000"/>
            </a:avLst>
          </a:prstGeom>
          <a:solidFill>
            <a:srgbClr val="0B4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11960352" y="4151376"/>
            <a:ext cx="50292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DIFFERENTIATION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978640" y="4709160"/>
            <a:ext cx="4937760" cy="2743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E2A3A"/>
                </a:solidFill>
                <a:latin typeface="Arial"/>
              </a:rPr>
              <a:t>Udaan, Jumbotail, ONDC, PANTR digitize find → order → deliver.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B4F66"/>
                </a:solidFill>
                <a:latin typeface="Arial"/>
              </a:rPr>
              <a:t>We continuously re-solve allocation and fulfillment as conditions change.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E2A3A"/>
                </a:solidFill>
                <a:latin typeface="Arial"/>
              </a:rPr>
              <a:t>Next: predictive stockout, collective procurement, “supply-chain weather forecast”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024128" y="7726679"/>
            <a:ext cx="2743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B7A8A"/>
                </a:solidFill>
                <a:latin typeface="Arial"/>
              </a:rPr>
              <a:t>ROADMAP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1024128" y="8183879"/>
            <a:ext cx="3017520" cy="731520"/>
          </a:xfrm>
          <a:prstGeom prst="roundRect">
            <a:avLst>
              <a:gd name="adj" fmla="val 30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1024128" y="8183879"/>
            <a:ext cx="301752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One micro-market</a:t>
            </a:r>
          </a:p>
        </p:txBody>
      </p:sp>
      <p:sp>
        <p:nvSpPr>
          <p:cNvPr id="188" name="Right Arrow 187"/>
          <p:cNvSpPr/>
          <p:nvPr/>
        </p:nvSpPr>
        <p:spPr>
          <a:xfrm>
            <a:off x="4041648" y="8385048"/>
            <a:ext cx="228600" cy="27432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ounded Rectangle 188"/>
          <p:cNvSpPr/>
          <p:nvPr/>
        </p:nvSpPr>
        <p:spPr>
          <a:xfrm>
            <a:off x="4270248" y="8183879"/>
            <a:ext cx="3017520" cy="731520"/>
          </a:xfrm>
          <a:prstGeom prst="roundRect">
            <a:avLst>
              <a:gd name="adj" fmla="val 30000"/>
            </a:avLst>
          </a:prstGeom>
          <a:solidFill>
            <a:srgbClr val="0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4270248" y="8183879"/>
            <a:ext cx="301752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Bengaluru clusters</a:t>
            </a:r>
          </a:p>
        </p:txBody>
      </p:sp>
      <p:sp>
        <p:nvSpPr>
          <p:cNvPr id="191" name="Right Arrow 190"/>
          <p:cNvSpPr/>
          <p:nvPr/>
        </p:nvSpPr>
        <p:spPr>
          <a:xfrm>
            <a:off x="7287768" y="8385048"/>
            <a:ext cx="228600" cy="27432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ounded Rectangle 191"/>
          <p:cNvSpPr/>
          <p:nvPr/>
        </p:nvSpPr>
        <p:spPr>
          <a:xfrm>
            <a:off x="7516367" y="8183879"/>
            <a:ext cx="3017520" cy="731520"/>
          </a:xfrm>
          <a:prstGeom prst="roundRect">
            <a:avLst>
              <a:gd name="adj" fmla="val 30000"/>
            </a:avLst>
          </a:prstGeom>
          <a:solidFill>
            <a:srgbClr val="0B4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7516367" y="8183879"/>
            <a:ext cx="301752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City supplier graph</a:t>
            </a:r>
          </a:p>
        </p:txBody>
      </p:sp>
      <p:sp>
        <p:nvSpPr>
          <p:cNvPr id="194" name="Right Arrow 193"/>
          <p:cNvSpPr/>
          <p:nvPr/>
        </p:nvSpPr>
        <p:spPr>
          <a:xfrm>
            <a:off x="10533888" y="8385048"/>
            <a:ext cx="228600" cy="27432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ounded Rectangle 194"/>
          <p:cNvSpPr/>
          <p:nvPr/>
        </p:nvSpPr>
        <p:spPr>
          <a:xfrm>
            <a:off x="10762488" y="8183879"/>
            <a:ext cx="3017520" cy="731520"/>
          </a:xfrm>
          <a:prstGeom prst="roundRect">
            <a:avLst>
              <a:gd name="adj" fmla="val 30000"/>
            </a:avLst>
          </a:prstGeom>
          <a:solidFill>
            <a:srgbClr val="0B4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10762488" y="8183879"/>
            <a:ext cx="301752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Multi-city network</a:t>
            </a:r>
          </a:p>
        </p:txBody>
      </p:sp>
      <p:sp>
        <p:nvSpPr>
          <p:cNvPr id="197" name="Right Arrow 196"/>
          <p:cNvSpPr/>
          <p:nvPr/>
        </p:nvSpPr>
        <p:spPr>
          <a:xfrm>
            <a:off x="13780008" y="8385048"/>
            <a:ext cx="228600" cy="274320"/>
          </a:xfrm>
          <a:prstGeom prst="rightArrow">
            <a:avLst/>
          </a:prstGeom>
          <a:solidFill>
            <a:srgbClr val="5D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ounded Rectangle 197"/>
          <p:cNvSpPr/>
          <p:nvPr/>
        </p:nvSpPr>
        <p:spPr>
          <a:xfrm>
            <a:off x="14008608" y="8183879"/>
            <a:ext cx="3017520" cy="731520"/>
          </a:xfrm>
          <a:prstGeom prst="roundRect">
            <a:avLst>
              <a:gd name="adj" fmla="val 30000"/>
            </a:avLst>
          </a:prstGeom>
          <a:solidFill>
            <a:srgbClr val="12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14008608" y="8183879"/>
            <a:ext cx="301752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Demand intelligence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1024128" y="9144000"/>
            <a:ext cx="16056863" cy="777240"/>
          </a:xfrm>
          <a:prstGeom prst="roundRect">
            <a:avLst>
              <a:gd name="adj" fmla="val 20000"/>
            </a:avLst>
          </a:prstGeom>
          <a:solidFill>
            <a:srgbClr val="0B4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1188720" y="9381809"/>
            <a:ext cx="15727680" cy="301621"/>
          </a:xfrm>
          <a:prstGeom prst="rect">
            <a:avLst/>
          </a:prstGeom>
          <a:solidFill>
            <a:srgbClr val="FF0000"/>
          </a:solidFill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dirty="0">
                <a:solidFill>
                  <a:srgbClr val="5DE0E6"/>
                </a:solidFill>
                <a:latin typeface="Arial"/>
              </a:rPr>
              <a:t>Team Jugaad Coders · Satvik Pandey · Parthav U · Vedant J  |  Track 1 · PS-21  |  </a:t>
            </a:r>
            <a:r>
              <a:rPr sz="1600" b="1" dirty="0">
                <a:solidFill>
                  <a:srgbClr val="5DE0E6"/>
                </a:solidFill>
                <a:latin typeface="Arial"/>
                <a:hlinkClick r:id="rId5"/>
              </a:rPr>
              <a:t>Full Technical Documentation (PDF) available</a:t>
            </a:r>
            <a:endParaRPr sz="1600" b="1">
              <a:solidFill>
                <a:srgbClr val="5DE0E6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1242</Words>
  <Application>Microsoft Office PowerPoint</Application>
  <PresentationFormat>Custom</PresentationFormat>
  <Paragraphs>206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Playfair Display SemiBold</vt:lpstr>
      <vt:lpstr>Times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SATVIK PANDEY</dc:creator>
  <cp:lastModifiedBy>SATVIK PANDEY</cp:lastModifiedBy>
  <cp:revision>51</cp:revision>
  <dcterms:created xsi:type="dcterms:W3CDTF">2006-08-16T00:00:00Z</dcterms:created>
  <dcterms:modified xsi:type="dcterms:W3CDTF">2026-10-05T15:52:26Z</dcterms:modified>
</cp:coreProperties>
</file>